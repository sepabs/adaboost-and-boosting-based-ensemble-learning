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8786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528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1697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394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1206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3914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345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39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135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323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23241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46556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8039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4417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99330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45091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3489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778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1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2857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7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000" dirty="0" err="1"/>
              <a:t>AdaBoost</a:t>
            </a:r>
            <a:r>
              <a:rPr sz="3000" dirty="0"/>
              <a:t>: A Decision-Theoretic Generalization of On-Line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sz="2500" dirty="0"/>
              <a:t>Freund, Y. &amp; </a:t>
            </a:r>
            <a:r>
              <a:rPr sz="2500" dirty="0" err="1"/>
              <a:t>Schapire</a:t>
            </a:r>
            <a:r>
              <a:rPr sz="2500" dirty="0"/>
              <a:t>, R. E. (1997)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dirty="0"/>
              <a:t>Boosting improves the accuracy of weak learning </a:t>
            </a:r>
            <a:r>
              <a:rPr dirty="0" smtClean="0"/>
              <a:t>algorithms.</a:t>
            </a:r>
            <a:endParaRPr lang="fa-IR" dirty="0" smtClean="0"/>
          </a:p>
          <a:p>
            <a:pPr algn="l" rtl="0"/>
            <a:r>
              <a:rPr dirty="0" smtClean="0"/>
              <a:t>This </a:t>
            </a:r>
            <a:r>
              <a:rPr dirty="0"/>
              <a:t>paper introduces </a:t>
            </a:r>
            <a:r>
              <a:rPr dirty="0" err="1"/>
              <a:t>AdaBoost</a:t>
            </a:r>
            <a:r>
              <a:rPr dirty="0"/>
              <a:t> with a decision-theoretic foundation.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dirty="0"/>
              <a:t>Considers </a:t>
            </a:r>
            <a:r>
              <a:rPr lang="en-US" dirty="0" smtClean="0"/>
              <a:t>Both</a:t>
            </a:r>
            <a:r>
              <a:rPr dirty="0" smtClean="0"/>
              <a:t> </a:t>
            </a:r>
            <a:r>
              <a:rPr lang="en-US" dirty="0" smtClean="0"/>
              <a:t>On-Line</a:t>
            </a:r>
            <a:r>
              <a:rPr dirty="0" smtClean="0"/>
              <a:t> </a:t>
            </a:r>
            <a:r>
              <a:rPr dirty="0"/>
              <a:t>and </a:t>
            </a:r>
            <a:r>
              <a:rPr lang="en-US" dirty="0" smtClean="0"/>
              <a:t>Batch Learning Settings</a:t>
            </a:r>
            <a:r>
              <a:rPr dirty="0" smtClean="0"/>
              <a:t>.</a:t>
            </a:r>
            <a:endParaRPr dirty="0"/>
          </a:p>
          <a:p>
            <a:pPr algn="l" rtl="0"/>
            <a:r>
              <a:rPr dirty="0"/>
              <a:t>Weak learners perform slightly better than random guessing.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dirty="0"/>
              <a:t>Combine </a:t>
            </a:r>
            <a:r>
              <a:rPr lang="en-US" dirty="0" smtClean="0"/>
              <a:t>Weak Hypotheses </a:t>
            </a:r>
            <a:r>
              <a:rPr dirty="0" smtClean="0"/>
              <a:t>into </a:t>
            </a:r>
            <a:r>
              <a:rPr dirty="0"/>
              <a:t>a </a:t>
            </a:r>
            <a:r>
              <a:rPr lang="en-US" dirty="0" smtClean="0"/>
              <a:t>Strong Classifier</a:t>
            </a:r>
            <a:r>
              <a:rPr dirty="0" smtClean="0"/>
              <a:t>.</a:t>
            </a:r>
            <a:endParaRPr dirty="0"/>
          </a:p>
          <a:p>
            <a:pPr algn="l" rtl="0"/>
            <a:r>
              <a:rPr dirty="0" smtClean="0"/>
              <a:t>Provide</a:t>
            </a:r>
            <a:r>
              <a:rPr lang="en-US" dirty="0" smtClean="0"/>
              <a:t> Guarantees </a:t>
            </a:r>
            <a:r>
              <a:rPr dirty="0" smtClean="0"/>
              <a:t>on </a:t>
            </a:r>
            <a:r>
              <a:rPr lang="en-US" dirty="0" smtClean="0"/>
              <a:t>Error Reduction</a:t>
            </a:r>
            <a:r>
              <a:rPr dirty="0" smtClean="0"/>
              <a:t>.</a:t>
            </a:r>
            <a:endParaRPr lang="fa-IR" dirty="0" smtClean="0"/>
          </a:p>
          <a:p>
            <a:pPr marL="0" indent="0" algn="l">
              <a:buNone/>
            </a:pPr>
            <a:r>
              <a:rPr lang="en-US" altLang="en-US" sz="1800" dirty="0" smtClean="0"/>
              <a:t>Example: </a:t>
            </a:r>
            <a:r>
              <a:rPr lang="en-US" altLang="en-US" sz="1800" dirty="0" smtClean="0"/>
              <a:t>Suppose </a:t>
            </a:r>
            <a:r>
              <a:rPr lang="en-US" altLang="en-US" sz="1800" dirty="0"/>
              <a:t>there are 25 base </a:t>
            </a:r>
            <a:r>
              <a:rPr lang="en-US" altLang="en-US" sz="1800" dirty="0" smtClean="0"/>
              <a:t>classifiers.</a:t>
            </a:r>
          </a:p>
          <a:p>
            <a:pPr marL="0" indent="0" algn="l">
              <a:buNone/>
            </a:pPr>
            <a:r>
              <a:rPr lang="en-US" altLang="en-US" sz="1800" dirty="0" smtClean="0"/>
              <a:t>Each </a:t>
            </a:r>
            <a:r>
              <a:rPr lang="en-US" altLang="en-US" sz="1800" dirty="0"/>
              <a:t>classifier has error rate, </a:t>
            </a:r>
            <a:r>
              <a:rPr lang="en-US" altLang="en-US" sz="1800" dirty="0">
                <a:sym typeface="Symbol" panose="05050102010706020507" pitchFamily="18" charset="2"/>
              </a:rPr>
              <a:t></a:t>
            </a:r>
            <a:r>
              <a:rPr lang="en-US" altLang="en-US" sz="1800" dirty="0"/>
              <a:t> = </a:t>
            </a:r>
            <a:r>
              <a:rPr lang="en-US" altLang="en-US" sz="1800" dirty="0" smtClean="0"/>
              <a:t>0.35. Assume </a:t>
            </a:r>
            <a:r>
              <a:rPr lang="en-US" altLang="en-US" sz="1800" dirty="0"/>
              <a:t>classifiers are </a:t>
            </a:r>
            <a:r>
              <a:rPr lang="en-US" altLang="en-US" sz="1800" dirty="0" smtClean="0"/>
              <a:t>independent.</a:t>
            </a:r>
          </a:p>
          <a:p>
            <a:pPr marL="457200" lvl="1" indent="0" algn="l">
              <a:buNone/>
            </a:pPr>
            <a:r>
              <a:rPr lang="en-US" altLang="en-US" sz="1800" dirty="0" smtClean="0"/>
              <a:t>Probability </a:t>
            </a:r>
            <a:r>
              <a:rPr lang="en-US" altLang="en-US" sz="1800" dirty="0"/>
              <a:t>that the ensemble classifier makes a wrong </a:t>
            </a:r>
            <a:r>
              <a:rPr lang="en-US" altLang="en-US" sz="1800" dirty="0" smtClean="0"/>
              <a:t>prediction:</a:t>
            </a:r>
            <a:endParaRPr dirty="0"/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4516533"/>
              </p:ext>
            </p:extLst>
          </p:nvPr>
        </p:nvGraphicFramePr>
        <p:xfrm>
          <a:off x="2590800" y="5072687"/>
          <a:ext cx="36576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Equation" r:id="rId3" imgW="1625600" imgH="457200" progId="Equation.3">
                  <p:embed/>
                </p:oleObj>
              </mc:Choice>
              <mc:Fallback>
                <p:oleObj name="Equation" r:id="rId3" imgW="1625600" imgH="457200" progId="Equation.3">
                  <p:embed/>
                  <p:pic>
                    <p:nvPicPr>
                      <p:cNvPr id="6554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5072687"/>
                        <a:ext cx="36576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dirty="0"/>
              <a:t>Maintain a distribution over training examples.</a:t>
            </a:r>
          </a:p>
          <a:p>
            <a:pPr algn="l" rtl="0"/>
            <a:r>
              <a:rPr dirty="0"/>
              <a:t>Focus learning on hard-to-classify examples.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AdaBoost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dirty="0" smtClean="0"/>
              <a:t>Initialize </a:t>
            </a:r>
            <a:r>
              <a:rPr lang="en-US" dirty="0" smtClean="0"/>
              <a:t>Weights Uniformly</a:t>
            </a:r>
            <a:r>
              <a:rPr dirty="0" smtClean="0"/>
              <a:t>.</a:t>
            </a:r>
          </a:p>
          <a:p>
            <a:pPr algn="l" rtl="0"/>
            <a:r>
              <a:rPr dirty="0" smtClean="0"/>
              <a:t>Iteratively </a:t>
            </a:r>
            <a:r>
              <a:rPr lang="en-US" dirty="0" smtClean="0"/>
              <a:t>Train Weak Learners</a:t>
            </a:r>
            <a:r>
              <a:rPr dirty="0" smtClean="0"/>
              <a:t>.</a:t>
            </a:r>
          </a:p>
          <a:p>
            <a:pPr algn="l" rtl="0"/>
            <a:r>
              <a:rPr dirty="0" smtClean="0"/>
              <a:t>Weight </a:t>
            </a:r>
            <a:r>
              <a:rPr lang="en-US" dirty="0" smtClean="0"/>
              <a:t>Each Learner</a:t>
            </a:r>
            <a:r>
              <a:rPr dirty="0" smtClean="0"/>
              <a:t> based on its </a:t>
            </a:r>
            <a:r>
              <a:rPr lang="en-US" dirty="0" smtClean="0"/>
              <a:t>Error</a:t>
            </a:r>
            <a:r>
              <a:rPr dirty="0" smtClean="0"/>
              <a:t>.</a:t>
            </a:r>
          </a:p>
          <a:p>
            <a:pPr algn="l" rtl="0"/>
            <a:r>
              <a:rPr dirty="0" smtClean="0"/>
              <a:t>Combine</a:t>
            </a:r>
            <a:r>
              <a:rPr lang="en-US" dirty="0" smtClean="0"/>
              <a:t> Learners </a:t>
            </a:r>
            <a:r>
              <a:rPr dirty="0" smtClean="0"/>
              <a:t>by </a:t>
            </a:r>
            <a:r>
              <a:rPr lang="en-US" dirty="0" smtClean="0"/>
              <a:t>Weighted Voting</a:t>
            </a:r>
            <a:r>
              <a:rPr dirty="0" smtClean="0"/>
              <a:t>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Weight Update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Misclassified examples receive higher weights.</a:t>
            </a:r>
          </a:p>
          <a:p>
            <a:pPr algn="l"/>
            <a:r>
              <a:rPr dirty="0"/>
              <a:t>Correctly classified examples receive lower weights.</a:t>
            </a:r>
          </a:p>
        </p:txBody>
      </p:sp>
      <p:pic>
        <p:nvPicPr>
          <p:cNvPr id="4" name="Picture 3"/>
          <p:cNvPicPr>
            <a:picLocks noGrp="1"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633" y="3802496"/>
            <a:ext cx="80772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2290233" y="5011802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 Example 4 is hard to classify</a:t>
            </a:r>
          </a:p>
          <a:p>
            <a:r>
              <a:rPr lang="en-US" dirty="0"/>
              <a:t> Its weight is increased, therefore it is more likely to be chosen again in subsequent rounds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nsemble Methods in Machine Learning: Bagging Versus Boosting | Pluralsigh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382" y="1266140"/>
            <a:ext cx="7638473" cy="4325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1914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Bounds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dirty="0"/>
              <a:t>Training error decreases exponentially.</a:t>
            </a:r>
          </a:p>
          <a:p>
            <a:pPr algn="l" rtl="0"/>
            <a:r>
              <a:rPr dirty="0"/>
              <a:t>Bounds derived using decision-theoretic analysis.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Loss Perspective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dirty="0" smtClean="0"/>
              <a:t>Minimizes </a:t>
            </a:r>
            <a:r>
              <a:rPr dirty="0" smtClean="0"/>
              <a:t>an </a:t>
            </a:r>
            <a:r>
              <a:rPr lang="en-US" dirty="0" smtClean="0"/>
              <a:t>Exponential Loss Function</a:t>
            </a:r>
            <a:r>
              <a:rPr dirty="0" smtClean="0"/>
              <a:t>.</a:t>
            </a:r>
          </a:p>
          <a:p>
            <a:pPr marL="0" indent="0" algn="l">
              <a:buNone/>
            </a:pPr>
            <a:r>
              <a:rPr dirty="0" smtClean="0"/>
              <a:t>Explains </a:t>
            </a:r>
            <a:r>
              <a:rPr lang="en-US" dirty="0" smtClean="0"/>
              <a:t>Consistent Performance Improvements</a:t>
            </a:r>
            <a:r>
              <a:rPr dirty="0" smtClean="0"/>
              <a:t>.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dirty="0"/>
              <a:t>Simple and </a:t>
            </a:r>
            <a:r>
              <a:rPr lang="en-US" dirty="0" smtClean="0"/>
              <a:t>Efficient</a:t>
            </a:r>
            <a:r>
              <a:rPr dirty="0" smtClean="0"/>
              <a:t>.</a:t>
            </a:r>
            <a:endParaRPr dirty="0"/>
          </a:p>
          <a:p>
            <a:pPr algn="l" rtl="0"/>
            <a:r>
              <a:rPr dirty="0"/>
              <a:t>Strong </a:t>
            </a:r>
            <a:r>
              <a:rPr lang="en-US" dirty="0" smtClean="0"/>
              <a:t>Theoretical Guarantees</a:t>
            </a:r>
            <a:r>
              <a:rPr dirty="0" smtClean="0"/>
              <a:t>.</a:t>
            </a:r>
            <a:endParaRPr dirty="0"/>
          </a:p>
          <a:p>
            <a:pPr algn="l" rtl="0"/>
            <a:r>
              <a:rPr dirty="0"/>
              <a:t>Works </a:t>
            </a:r>
            <a:r>
              <a:rPr lang="en-US" dirty="0" smtClean="0"/>
              <a:t>Well</a:t>
            </a:r>
            <a:r>
              <a:rPr dirty="0" smtClean="0"/>
              <a:t> </a:t>
            </a:r>
            <a:r>
              <a:rPr dirty="0"/>
              <a:t>with </a:t>
            </a:r>
            <a:r>
              <a:rPr lang="en-US" dirty="0" smtClean="0"/>
              <a:t>Weak Learners</a:t>
            </a:r>
            <a:r>
              <a:rPr dirty="0" smtClean="0"/>
              <a:t>.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dirty="0" err="1" smtClean="0"/>
              <a:t>AdaBoost</a:t>
            </a:r>
            <a:r>
              <a:rPr dirty="0" smtClean="0"/>
              <a:t> shows that </a:t>
            </a:r>
            <a:r>
              <a:rPr dirty="0"/>
              <a:t>weak learners can be boosted into a strong learner.</a:t>
            </a:r>
          </a:p>
          <a:p>
            <a:pPr algn="l" rtl="0"/>
            <a:r>
              <a:rPr dirty="0"/>
              <a:t>Forms the basis for many ensemble methods.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38</TotalTime>
  <Words>253</Words>
  <Application>Microsoft Office PowerPoint</Application>
  <PresentationFormat>On-screen Show (4:3)</PresentationFormat>
  <Paragraphs>40</Paragraphs>
  <Slides>12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Garamond</vt:lpstr>
      <vt:lpstr>Symbol</vt:lpstr>
      <vt:lpstr>Times New Roman</vt:lpstr>
      <vt:lpstr>Organic</vt:lpstr>
      <vt:lpstr>Equation</vt:lpstr>
      <vt:lpstr>AdaBoost: A Decision-Theoretic Generalization of On-Line Learning</vt:lpstr>
      <vt:lpstr>Introduction</vt:lpstr>
      <vt:lpstr>Learning Framework</vt:lpstr>
      <vt:lpstr>Objective</vt:lpstr>
      <vt:lpstr>Core Idea</vt:lpstr>
      <vt:lpstr>AdaBoost Algorithm</vt:lpstr>
      <vt:lpstr>Weight Update Mechanism</vt:lpstr>
      <vt:lpstr>PowerPoint Presentation</vt:lpstr>
      <vt:lpstr>Error Bounds</vt:lpstr>
      <vt:lpstr>Loss Perspective</vt:lpstr>
      <vt:lpstr>Advantages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AdaBoost: A Decision-Theoretic Generalization of On-Line Learning</dc:title>
  <dc:subject/>
  <dc:creator/>
  <cp:keywords/>
  <dc:description>generated using python-pptx</dc:description>
  <cp:lastModifiedBy>ASUS</cp:lastModifiedBy>
  <cp:revision>7</cp:revision>
  <dcterms:created xsi:type="dcterms:W3CDTF">2013-01-27T09:14:16Z</dcterms:created>
  <dcterms:modified xsi:type="dcterms:W3CDTF">2026-02-08T21:53:18Z</dcterms:modified>
  <cp:category/>
</cp:coreProperties>
</file>